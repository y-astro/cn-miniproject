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12192000"/>
  <p:embeddedFontLst>
    <p:embeddedFont>
      <p:font typeface="Inter Tight"/>
      <p:regular r:id="rId15"/>
      <p:bold r:id="rId16"/>
      <p:italic r:id="rId17"/>
      <p:boldItalic r:id="rId18"/>
    </p:embeddedFont>
    <p:embeddedFont>
      <p:font typeface="Inter Tight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3B35AE-45BC-452C-9767-925072ACA046}">
  <a:tblStyle styleId="{8E3B35AE-45BC-452C-9767-925072ACA0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TightSemiBold-bold.fntdata"/><Relationship Id="rId11" Type="http://schemas.openxmlformats.org/officeDocument/2006/relationships/slide" Target="slides/slide5.xml"/><Relationship Id="rId22" Type="http://schemas.openxmlformats.org/officeDocument/2006/relationships/font" Target="fonts/InterTightSemiBold-boldItalic.fntdata"/><Relationship Id="rId10" Type="http://schemas.openxmlformats.org/officeDocument/2006/relationships/slide" Target="slides/slide4.xml"/><Relationship Id="rId21" Type="http://schemas.openxmlformats.org/officeDocument/2006/relationships/font" Target="fonts/InterTight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nterTight-regular.fntdata"/><Relationship Id="rId14" Type="http://schemas.openxmlformats.org/officeDocument/2006/relationships/slide" Target="slides/slide8.xml"/><Relationship Id="rId17" Type="http://schemas.openxmlformats.org/officeDocument/2006/relationships/font" Target="fonts/InterTight-italic.fntdata"/><Relationship Id="rId16" Type="http://schemas.openxmlformats.org/officeDocument/2006/relationships/font" Target="fonts/InterTight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InterTightSemiBold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T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" name="Google Shape;10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 (h271719e2ac9c92cd_47_0)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 1">
  <p:cSld name="Slide master 2 (h271719e2ac9c92cd_40_0)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 1 1">
  <p:cSld name="Slide master 2 (h271719e2ac9c92cd_33_0)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 1 1 1">
  <p:cSld name="Slide master 2 (h271719e2ac9c92cd_25_0)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 1 1 1 1">
  <p:cSld name="Slide master 2 (h271719e2ac9c92cd_18_0)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 1 1 1 1 1">
  <p:cSld name="Slide master 2 (h271719e2ac9c92cd_8_0)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/>
          <p:nvPr/>
        </p:nvSpPr>
        <p:spPr>
          <a:xfrm>
            <a:off x="17586" y="0"/>
            <a:ext cx="853418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5"/>
          <p:cNvSpPr/>
          <p:nvPr/>
        </p:nvSpPr>
        <p:spPr>
          <a:xfrm>
            <a:off x="711182" y="596583"/>
            <a:ext cx="7721407" cy="1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COMPUTER NETWORKS · SYSTEM DESIGN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711182" y="1314848"/>
            <a:ext cx="7111822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Inter Tight SemiBold"/>
              <a:buNone/>
            </a:pPr>
            <a:r>
              <a:rPr b="0" i="0" lang="en-US" spc="-360" sz="72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Remote System Health</a:t>
            </a:r>
            <a:endParaRPr b="0" i="0" spc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Inter Tight SemiBold"/>
              <a:buNone/>
            </a:pPr>
            <a:r>
              <a:rPr b="0" i="0" lang="en-US" spc="-360" sz="72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Monitoring</a:t>
            </a:r>
            <a:endParaRPr b="0" i="0" spc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5"/>
          <p:cNvSpPr/>
          <p:nvPr/>
        </p:nvSpPr>
        <p:spPr>
          <a:xfrm>
            <a:off x="711182" y="4294584"/>
            <a:ext cx="7111822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 Tight"/>
              <a:buNone/>
            </a:pPr>
            <a:r>
              <a:rPr b="0" i="0" lang="en-US" spc="-10" sz="20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 lightweight path from local readings to protected alerts</a:t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5"/>
          <p:cNvSpPr/>
          <p:nvPr/>
        </p:nvSpPr>
        <p:spPr>
          <a:xfrm>
            <a:off x="711182" y="5011499"/>
            <a:ext cx="7111822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Small agents send local health updates, the server checks and tracks them, and SDN keeps critical alerts moving when the network is busy.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5"/>
          <p:cNvSpPr/>
          <p:nvPr/>
        </p:nvSpPr>
        <p:spPr>
          <a:xfrm>
            <a:off x="711182" y="5832277"/>
            <a:ext cx="5333867" cy="31651"/>
          </a:xfrm>
          <a:prstGeom prst="roundRect">
            <a:avLst>
              <a:gd fmla="val 4999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5"/>
          <p:cNvSpPr/>
          <p:nvPr/>
        </p:nvSpPr>
        <p:spPr>
          <a:xfrm>
            <a:off x="711182" y="6118344"/>
            <a:ext cx="7721407" cy="21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5"/>
          <p:cNvSpPr/>
          <p:nvPr/>
        </p:nvSpPr>
        <p:spPr>
          <a:xfrm>
            <a:off x="8534187" y="-5862"/>
            <a:ext cx="365750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SRN: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PES2UG25CS609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PES2UG25CS620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PES2UG25CS642</a:t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5923" y="1"/>
            <a:ext cx="1372280" cy="137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6"/>
          <p:cNvSpPr/>
          <p:nvPr/>
        </p:nvSpPr>
        <p:spPr>
          <a:xfrm>
            <a:off x="609585" y="266382"/>
            <a:ext cx="92895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HOW IT WORKS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6"/>
          <p:cNvSpPr/>
          <p:nvPr/>
        </p:nvSpPr>
        <p:spPr>
          <a:xfrm>
            <a:off x="609585" y="582660"/>
            <a:ext cx="92895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 Tight SemiBold"/>
              <a:buNone/>
            </a:pPr>
            <a:r>
              <a:rPr b="0" i="0" lang="en-US" spc="-119" sz="34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Each node sends a small update—no permanent connection needed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6"/>
          <p:cNvSpPr/>
          <p:nvPr/>
        </p:nvSpPr>
        <p:spPr>
          <a:xfrm>
            <a:off x="609585" y="1625362"/>
            <a:ext cx="9289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Every node sends a small UDP update on a timer, so the monitor does not need a separate TCP connection for each client.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3699" y="254000"/>
            <a:ext cx="533387" cy="49331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6"/>
          <p:cNvSpPr/>
          <p:nvPr/>
        </p:nvSpPr>
        <p:spPr>
          <a:xfrm>
            <a:off x="609585" y="2377877"/>
            <a:ext cx="88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Inter Tight SemiBold"/>
              <a:buNone/>
            </a:pPr>
            <a:r>
              <a:rPr b="0" i="0" lang="en-US" spc="0" sz="1700" u="none" cap="none" strike="noStrike">
                <a:solidFill>
                  <a:srgbClr val="1A1A1A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01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6"/>
          <p:cNvSpPr/>
          <p:nvPr/>
        </p:nvSpPr>
        <p:spPr>
          <a:xfrm>
            <a:off x="615447" y="2694583"/>
            <a:ext cx="3471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 Tight"/>
              <a:buNone/>
            </a:pPr>
            <a:r>
              <a:rPr b="0" i="0" lang="en-US" spc="-9" sz="19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Collect local data</a:t>
            </a:r>
            <a:endParaRPr b="0" i="0" spc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6"/>
          <p:cNvSpPr/>
          <p:nvPr/>
        </p:nvSpPr>
        <p:spPr>
          <a:xfrm>
            <a:off x="609585" y="3141226"/>
            <a:ext cx="34713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psutil gathers CPU and memory use, process counts, top processes, and network I/O.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6"/>
          <p:cNvSpPr/>
          <p:nvPr/>
        </p:nvSpPr>
        <p:spPr>
          <a:xfrm>
            <a:off x="4385557" y="2377877"/>
            <a:ext cx="88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Inter Tight SemiBold"/>
              <a:buNone/>
            </a:pPr>
            <a:r>
              <a:rPr b="0" i="0" lang="en-US" spc="0" sz="1700" u="none" cap="none" strike="noStrike">
                <a:solidFill>
                  <a:srgbClr val="1A1A1A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02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4385557" y="2694583"/>
            <a:ext cx="3471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 Tight"/>
              <a:buNone/>
            </a:pPr>
            <a:r>
              <a:rPr b="0" i="0" lang="en-US" spc="-9" sz="19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Keep each report small</a:t>
            </a:r>
            <a:endParaRPr b="0" i="0" spc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6"/>
          <p:cNvSpPr/>
          <p:nvPr/>
        </p:nvSpPr>
        <p:spPr>
          <a:xfrm>
            <a:off x="4385557" y="3141226"/>
            <a:ext cx="34713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Strict JSON includes the node ID, sequence, timestamp, interval, priority, and metrics.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6"/>
          <p:cNvSpPr/>
          <p:nvPr/>
        </p:nvSpPr>
        <p:spPr>
          <a:xfrm>
            <a:off x="8161629" y="2377877"/>
            <a:ext cx="882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Inter Tight SemiBold"/>
              <a:buNone/>
            </a:pPr>
            <a:r>
              <a:rPr b="0" i="0" lang="en-US" spc="0" sz="1700" u="none" cap="none" strike="noStrike">
                <a:solidFill>
                  <a:srgbClr val="1A1A1A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03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6"/>
          <p:cNvSpPr/>
          <p:nvPr/>
        </p:nvSpPr>
        <p:spPr>
          <a:xfrm>
            <a:off x="8161629" y="2694583"/>
            <a:ext cx="3471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 Tight"/>
              <a:buNone/>
            </a:pPr>
            <a:r>
              <a:rPr b="0" i="0" lang="en-US" spc="-9" sz="19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Prioritize alerts</a:t>
            </a:r>
            <a:endParaRPr b="0" i="0" spc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6"/>
          <p:cNvSpPr/>
          <p:nvPr/>
        </p:nvSpPr>
        <p:spPr>
          <a:xfrm>
            <a:off x="8161629" y="3141226"/>
            <a:ext cx="34713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DSCP 46 marks threshold violations, allowing OpenFlow to route them to Queue 2.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6"/>
          <p:cNvSpPr/>
          <p:nvPr/>
        </p:nvSpPr>
        <p:spPr>
          <a:xfrm>
            <a:off x="761981" y="4224913"/>
            <a:ext cx="5206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PACKET RULES · COMMON/PROTOCOL.PY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761981" y="4582021"/>
            <a:ext cx="5054400" cy="1005600"/>
          </a:xfrm>
          <a:prstGeom prst="roundRect">
            <a:avLst>
              <a:gd fmla="val 11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944837" y="4745505"/>
            <a:ext cx="46887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10"/>
              <a:buFont typeface="Consolas"/>
              <a:buNone/>
            </a:pPr>
            <a:r>
              <a:rPr b="0" i="0" lang="en-US" spc="0" sz="111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payload=json.dumps(report,separators=(",",":")).encode()</a:t>
            </a:r>
            <a:endParaRPr b="0" i="0" spc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10"/>
              <a:buFont typeface="Consolas"/>
              <a:buNone/>
            </a:pPr>
            <a:r>
              <a:rPr b="0" i="0" lang="en-US" spc="0" sz="111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if len(payload)&gt;1400: raise ProtocolError("payload exceeds MTU guard")</a:t>
            </a:r>
            <a:endParaRPr b="0" i="0" spc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10"/>
              <a:buFont typeface="Consolas"/>
              <a:buNone/>
            </a:pPr>
            <a:r>
              <a:rPr b="0" i="0" lang="en-US" spc="0" sz="111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validate(report)</a:t>
            </a:r>
            <a:endParaRPr b="0" i="0" spc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761981" y="5767407"/>
            <a:ext cx="5054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0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VALIDATION AND THE ≤1400-BYTE GUARD KEEP EACH DATAGRAM COMPACT AND PREVENT FRAGMENTATION.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6426039" y="4224913"/>
            <a:ext cx="5206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WHAT THE SERVER SAVES · SERVER_REPORTS.CSV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6426039" y="4582021"/>
            <a:ext cx="5054400" cy="830400"/>
          </a:xfrm>
          <a:prstGeom prst="roundRect">
            <a:avLst>
              <a:gd fmla="val 13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6608895" y="4745505"/>
            <a:ext cx="46887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Consolas"/>
              <a:buNone/>
            </a:pPr>
            <a:r>
              <a:rPr b="0" i="0" lang="en-US" spc="0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node_id,seq,delay_ms,priority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Consolas"/>
              <a:buNone/>
            </a:pPr>
            <a:r>
              <a:rPr b="0" i="0" lang="en-US" spc="0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h_partial,1,0.24,NORMAL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Consolas"/>
              <a:buNone/>
            </a:pPr>
            <a:r>
              <a:rPr b="0" i="0" lang="en-US" spc="0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h_partial,10,0.26,NORMAL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426039" y="5592187"/>
            <a:ext cx="5054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0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 SERVER STORES EVIDENCE FOR EVERY PACKET, NOT JUST A LIVE DASHBOARD.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47548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406390" y="367983"/>
            <a:ext cx="4348451" cy="1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AGENT DESIGN · LOCAL SAMPLING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406390" y="684260"/>
            <a:ext cx="4043658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 Tight SemiBold"/>
              <a:buNone/>
            </a:pPr>
            <a:r>
              <a:rPr b="0" i="0" lang="en-US" spc="-119" sz="34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How small agents turn local readings into useful telemetry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406390" y="2144316"/>
            <a:ext cx="4043658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 Tight"/>
              <a:buNone/>
            </a:pPr>
            <a:r>
              <a:rPr b="0" i="0" lang="en-US" spc="-10" sz="20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 steady timer prevents drift, and repeatable simulation modes make alerts and failures easy to test.</a:t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06390" y="3236516"/>
            <a:ext cx="4043658" cy="30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1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What each report includes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node_id · seq · sent_ts · interval · priority · validated metrics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1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What happens when collection fails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HEARTBEAT still goes out, so the node stays alive even when a metric read fails.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1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Message size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HEALTH: 378-byte payload / 420-byte wire size / 3.36 kbps at 1 s.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5059534" y="0"/>
            <a:ext cx="713216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" name="Google Shape;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5125" y="330200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5415125" y="1095058"/>
            <a:ext cx="6776570" cy="1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DSCP / TOS MARKING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415125" y="1474391"/>
            <a:ext cx="6370180" cy="1359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DSCP 46 (EF); 46 &lt;&lt; 2 = 184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sock.setsockopt(socket.IPPROTO_IP,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socket.IP_TOS, 0xB8)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Normal reports use DSCP 0; threshold violations use EF marking.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415125" y="3079750"/>
            <a:ext cx="6370081" cy="31651"/>
          </a:xfrm>
          <a:prstGeom prst="roundRect">
            <a:avLst>
              <a:gd fmla="val 49998" name="adj"/>
            </a:avLst>
          </a:prstGeom>
          <a:solidFill>
            <a:srgbClr val="9A9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415125" y="3369945"/>
            <a:ext cx="6776570" cy="1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STATS_COLLECTOR.PY · MODES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415125" y="3749278"/>
            <a:ext cx="6370180" cy="1942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pattern == "spike":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cpu, processes = 95.0, 550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elif pattern == "normal":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cpu, processes = safe_values()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In spike mode, CPU reaches at least 95% and processes reach 550 on configured ticks. Normal mode stays below warning thresholds.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609585" y="367983"/>
            <a:ext cx="9463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SERVER DECISION LOOP · RECEIVE, CHECK, ALERT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609585" y="675497"/>
            <a:ext cx="9463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Tight SemiBold"/>
              <a:buNone/>
            </a:pPr>
            <a:r>
              <a:rPr b="0" i="0" lang="en-US" spc="-98" sz="28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The server turns each packet into a decision</a:t>
            </a:r>
            <a:endParaRPr b="0" i="0" spc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609585" y="1129109"/>
            <a:ext cx="94638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Tight"/>
              <a:buNone/>
            </a:pPr>
            <a:r>
              <a:rPr b="0" i="0" lang="en-US" spc="-7" sz="15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 non-blocking UDP socket and </a:t>
            </a:r>
            <a:r>
              <a:rPr b="0" i="0" lang="en-US" spc="-7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pc="-7" sz="15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handle telemetry without creating a thread for every client.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0418" y="355600"/>
            <a:ext cx="558786" cy="5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609585" y="1810623"/>
            <a:ext cx="4907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SELECT LOOP + DELAY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09585" y="2239169"/>
            <a:ext cx="4907100" cy="2158800"/>
          </a:xfrm>
          <a:prstGeom prst="roundRect">
            <a:avLst>
              <a:gd fmla="val 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868638" y="2455069"/>
            <a:ext cx="4389000" cy="17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select.select([sock], [], [], 0.5)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sock.recvfrom(2048)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decode_and_validate(data)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Delay: (time.time() - report["sent_ts"]) * 1000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09585" y="4772283"/>
            <a:ext cx="4907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If the clock jumps, the delay is clamped to 0.0 ms and a warning is recorded.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609585" y="5400100"/>
            <a:ext cx="49071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0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REPORTS AND ALERTS STAY APPEND-ONLY, GIVING THE DASHBOARD AND EXPERIMENTS A RELIABLE RECORD.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5973811" y="1569641"/>
            <a:ext cx="5608200" cy="447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227805" y="1785223"/>
            <a:ext cx="53544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OUTPUT · CSV EVIDENCE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18"/>
          <p:cNvGraphicFramePr/>
          <p:nvPr/>
        </p:nvGraphicFramePr>
        <p:xfrm>
          <a:off x="6227805" y="20978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{8E3B35AE-45BC-452C-9767-925072ACA046}</a:tableStyleId>
              </a:tblPr>
              <a:tblGrid>
                <a:gridCol w="5100300"/>
              </a:tblGrid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Inter Tight"/>
                        <a:buNone/>
                      </a:pPr>
                      <a:r>
                        <a:rPr lang="en-US" spc="0" sz="9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Recorded decisions</a:t>
                      </a:r>
                      <a:endParaRPr spc="0" sz="9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Inter Tight"/>
                        <a:buNone/>
                      </a:pPr>
                      <a:r>
                        <a:rPr lang="en-US" spc="0" sz="9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server_reports.csv: h_partial,1,0.24 ms,NORMAL</a:t>
                      </a:r>
                      <a:endParaRPr spc="0" sz="9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Inter Tight"/>
                        <a:buNone/>
                      </a:pPr>
                      <a:r>
                        <a:rPr lang="en-US" spc="0" sz="9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server_reports.csv: h_partial,10,0.26 ms,NORMAL</a:t>
                      </a:r>
                      <a:endParaRPr spc="0" sz="9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Inter Tight"/>
                        <a:buNone/>
                      </a:pPr>
                      <a:r>
                        <a:rPr lang="en-US" spc="0" sz="9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server_alerts.csv: node_silence,3.0,CRITICAL,0.0 ms</a:t>
                      </a:r>
                      <a:endParaRPr spc="0" sz="9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Inter Tight"/>
                        <a:buNone/>
                      </a:pPr>
                      <a:r>
                        <a:rPr lang="en-US" spc="0" sz="9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server_alerts.csv: packet_loss_percent,20.0,CRITICAL,0.26 ms</a:t>
                      </a:r>
                      <a:endParaRPr spc="0" sz="9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18"/>
          <p:cNvSpPr/>
          <p:nvPr/>
        </p:nvSpPr>
        <p:spPr>
          <a:xfrm>
            <a:off x="6227805" y="3922693"/>
            <a:ext cx="53544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ALERT THRESHOLDS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6227805" y="4239875"/>
            <a:ext cx="51003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CPU: warn at 70%, critical at 90%; memory: warn at 75%, critical at 90%; processes: warn at 300, critical at 500; packet loss: warn at 5%, critical at 20%.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609585" y="393382"/>
            <a:ext cx="91575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QUALITY OF SERVICE · KEEPING CRITICAL PACKETS MOVING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609585" y="709660"/>
            <a:ext cx="9157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 Tight SemiBold"/>
              <a:buNone/>
            </a:pPr>
            <a:r>
              <a:rPr b="0" i="0" lang="en-US" spc="-119" sz="34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QoS keeps critical monitoring packets moving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609585" y="1239441"/>
            <a:ext cx="9157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 Tight"/>
              <a:buNone/>
            </a:pPr>
            <a:r>
              <a:rPr b="0" i="0" lang="en-US" spc="-10" sz="20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 agent marks a critical report, and OpenFlow sends it to a protected queue across the 10 Mbps bottleneck.</a:t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38" y="381000"/>
            <a:ext cx="660383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863578" y="2251948"/>
            <a:ext cx="50292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OPENFLOW 1.3 · MATCH → ACTION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863578" y="2611596"/>
            <a:ext cx="47751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Inter Tight SemiBold"/>
              <a:buNone/>
            </a:pPr>
            <a:r>
              <a:rPr b="0" i="0" lang="en-US" spc="-252" sz="56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DSCP 46</a:t>
            </a:r>
            <a:endParaRPr b="0" i="0" spc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863578" y="3414812"/>
            <a:ext cx="47751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At the socket, the agent uses EF marking (DSCP 46 / TOS 0xB8). OpenFlow 1.3 matches IPv4 (eth_type=0x0800), UDP (ip_proto=17), port 5005, and DSCP 46.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Priority 100 sends this traffic to Queue 2 with OFPActionSetQueue(2), then outputs to OFPP_NORMAL. Priority 50 maps DSCP 0 to Queue 1; priority 10 sends bulk traffic to Queue 0.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6603835" y="2251948"/>
            <a:ext cx="50292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HTB RESERVATION · TOPOLOGY.PY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603835" y="2537619"/>
            <a:ext cx="4775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None/>
            </a:pPr>
            <a:r>
              <a:rPr b="0" i="0" lang="en-US" spc="-12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Reserved queue capacity</a:t>
            </a:r>
            <a:endParaRPr b="0" i="0" spc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19"/>
          <p:cNvGraphicFramePr/>
          <p:nvPr/>
        </p:nvGraphicFramePr>
        <p:xfrm>
          <a:off x="6603835" y="3059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{8E3B35AE-45BC-452C-9767-925072ACA046}</a:tableStyleId>
              </a:tblPr>
              <a:tblGrid>
                <a:gridCol w="1241500"/>
                <a:gridCol w="1814475"/>
                <a:gridCol w="1719125"/>
              </a:tblGrid>
              <a:tr h="4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Queue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Traffic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Minimum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Queue 2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critical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5 Mbps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Queue 1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normal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3 Mbps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Queue 0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best-effort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 Mbps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9"/>
          <p:cNvSpPr/>
          <p:nvPr/>
        </p:nvSpPr>
        <p:spPr>
          <a:xfrm>
            <a:off x="6603835" y="5089446"/>
            <a:ext cx="47751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0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THESE MINIMUMS KEEP A CRITICAL LANE OPEN WHEN BACKGROUND TRAFFIC FILLS THE LINK.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609585" y="393382"/>
            <a:ext cx="91575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FAILURE DETECTION · WHEN A NODE STOPS REPORTING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609585" y="709660"/>
            <a:ext cx="9157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 Tight SemiBold"/>
              <a:buNone/>
            </a:pPr>
            <a:r>
              <a:rPr b="0" i="0" lang="en-US" spc="-119" sz="34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When a quiet node becomes a visible failure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09585" y="1320562"/>
            <a:ext cx="9157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Sequence gaps reveal packet loss. Three missed intervals help separate a real failure from normal packet disorder.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38" y="381000"/>
            <a:ext cx="660383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863578" y="2288659"/>
            <a:ext cx="59094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SEQUENCE GAPS AND SILENCE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863578" y="2609413"/>
            <a:ext cx="56556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Inter Tight"/>
              <a:buNone/>
            </a:pPr>
            <a:r>
              <a:rPr b="0" i="0" lang="en-US" spc="0" sz="17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When reports stop, the last-seen time keeps advancing. Duplicates and out-of-order packets are tracked separately, while a reset to 0 or 1 triggers restart handling.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863578" y="3718421"/>
            <a:ext cx="5655600" cy="2158800"/>
          </a:xfrm>
          <a:prstGeom prst="roundRect">
            <a:avLst>
              <a:gd fmla="val 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1122632" y="3934321"/>
            <a:ext cx="5137500" cy="17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gap = seq - last_seq - 1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loss_rate = lost / (received + lost)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if now - last_seen &gt;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3.0 * interval: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onsolas"/>
              <a:buNone/>
            </a:pPr>
            <a:r>
              <a:rPr b="0" i="0" lang="en-US" spc="0" sz="17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emit("NODE_DOWN")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7484280" y="2288659"/>
            <a:ext cx="41487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MEASURED FAILURE RESULTS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20"/>
          <p:cNvGraphicFramePr/>
          <p:nvPr/>
        </p:nvGraphicFramePr>
        <p:xfrm>
          <a:off x="7484280" y="2601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{8E3B35AE-45BC-452C-9767-925072ACA046}</a:tableStyleId>
              </a:tblPr>
              <a:tblGrid>
                <a:gridCol w="1947325"/>
                <a:gridCol w="1947325"/>
              </a:tblGrid>
              <a:tr h="4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Failure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TTD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agent_crash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1.07 ± 0.04 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link_failure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3.30 ± 0.00 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partial_loss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3.31 ± 0.02 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5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recovery on resume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Inter Tight"/>
                        <a:buNone/>
                      </a:pPr>
                      <a:r>
                        <a:rPr lang="en-US" spc="0" sz="1700" u="none" cap="none" strike="noStrike">
                          <a:solidFill>
                            <a:srgbClr val="000000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&lt; 0.05 s</a:t>
                      </a:r>
                      <a:endParaRPr spc="0" sz="17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86350" marB="86350" marR="161925" marL="1619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20"/>
          <p:cNvSpPr/>
          <p:nvPr/>
        </p:nvSpPr>
        <p:spPr>
          <a:xfrm>
            <a:off x="7484280" y="5399008"/>
            <a:ext cx="3894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0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ACROSS FIVE TRIALS, CRASHES WERE DETECTED IN 1.07 S; LINK AND PARTIAL-LOSS CASES TOOK ABOUT 3.30 S.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609585" y="190182"/>
            <a:ext cx="91575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52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RESULTS · WHAT THE DATA TELLS US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609585" y="506460"/>
            <a:ext cx="9157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Inter Tight SemiBold"/>
              <a:buNone/>
            </a:pPr>
            <a:r>
              <a:rPr b="0" i="0" lang="en-US" spc="-119" sz="340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The results: fast alerts that scale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609585" y="1036241"/>
            <a:ext cx="9157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 Tight"/>
              <a:buNone/>
            </a:pPr>
            <a:r>
              <a:rPr b="0" i="0" lang="en-US" spc="-10" sz="20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These charts come from the supplied CSV files, so every number is tied to the recorded experiment.</a:t>
            </a:r>
            <a:endParaRPr b="0" i="0" spc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38" y="177800"/>
            <a:ext cx="660383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81" y="1879005"/>
            <a:ext cx="5054474" cy="284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761981" y="4908272"/>
            <a:ext cx="50544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0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CONGESTION_COMPARISON.PNG · CRITICAL LOSS: 56.67% WITHOUT PRIORITY, 0.00% WITH PRIORITY; P95 DELAY: 30.75 MS VS 1.48 MS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6039" y="1879005"/>
            <a:ext cx="5054474" cy="305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6426039" y="5122882"/>
            <a:ext cx="5054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 Tight"/>
              <a:buNone/>
            </a:pPr>
            <a:r>
              <a:rPr b="0" i="0" lang="en-US" spc="0" sz="13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LATENCY_DISTRIBUTION.PNG · ALERT LATENCY STAYS CONCENTRATED BELOW 1 MS IN THE SUPPLIED SUMMARY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609585" y="5766395"/>
            <a:ext cx="3471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 Tight"/>
              <a:buNone/>
            </a:pPr>
            <a:r>
              <a:rPr b="0" i="0" lang="en-US" spc="-9" sz="19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Baseline performance</a:t>
            </a:r>
            <a:endParaRPr b="0" i="0" spc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609585" y="6213038"/>
            <a:ext cx="3471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Alert latency: 0.257 ms mean; 0.430 ms at p95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385557" y="5766395"/>
            <a:ext cx="3471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 Tight"/>
              <a:buNone/>
            </a:pPr>
            <a:r>
              <a:rPr b="0" i="0" lang="en-US" spc="-9" sz="19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Priority routing on</a:t>
            </a:r>
            <a:endParaRPr b="0" i="0" spc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4385557" y="6213038"/>
            <a:ext cx="3471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Critical loss: 0.00%; critical p95 delay: 1.48 ms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8161629" y="5766395"/>
            <a:ext cx="3471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 Tight"/>
              <a:buNone/>
            </a:pPr>
            <a:r>
              <a:rPr b="0" i="0" lang="en-US" spc="-9" sz="19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Scale</a:t>
            </a:r>
            <a:endParaRPr b="0" i="0" spc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8161629" y="6213038"/>
            <a:ext cx="3471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 Tight"/>
              <a:buNone/>
            </a:pPr>
            <a:r>
              <a:rPr b="0" i="0" lang="en-US" spc="0" sz="145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5–80 nodes; mean delay stays below 0.7 ms; CPU stays at or below 5.0%</a:t>
            </a:r>
            <a:endParaRPr b="0" i="0" spc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609585" y="388206"/>
            <a:ext cx="8805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None/>
            </a:pPr>
            <a:r>
              <a:rPr b="0" i="0" lang="en-US" spc="47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WHAT WE BUILT · WHAT WE LEARNED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09585" y="684541"/>
            <a:ext cx="88050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 Tight SemiBold"/>
              <a:buNone/>
            </a:pPr>
            <a:r>
              <a:rPr b="0" i="0" lang="en-US" spc="-104" sz="2950" u="none" cap="none" strike="noStrike">
                <a:solidFill>
                  <a:srgbClr val="000000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What we built — and what we learned</a:t>
            </a:r>
            <a:endParaRPr b="0" i="0" spc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609585" y="1154563"/>
            <a:ext cx="88050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b="0" i="0" lang="en-US" spc="-8" sz="16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Lightweight UDP reports become reliable through validation, sequence tracking, and silence checks. SDN QoS keeps the most important monitoring packets moving first.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1820" y="381000"/>
            <a:ext cx="60958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/>
          <p:nvPr/>
        </p:nvSpPr>
        <p:spPr>
          <a:xfrm>
            <a:off x="609585" y="1837035"/>
            <a:ext cx="5359200" cy="3352800"/>
          </a:xfrm>
          <a:prstGeom prst="roundRect">
            <a:avLst>
              <a:gd fmla="val 341" name="adj"/>
            </a:avLst>
          </a:prstGeom>
          <a:solidFill>
            <a:srgbClr val="FFFFFF"/>
          </a:solidFill>
          <a:ln cap="flat" cmpd="sng" w="25375">
            <a:solidFill>
              <a:srgbClr val="876C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812780" y="2076002"/>
            <a:ext cx="49530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 Tight"/>
              <a:buNone/>
            </a:pPr>
            <a:r>
              <a:rPr b="0" i="0" lang="en-US" spc="-9" sz="18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Start on your machine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12780" y="2588022"/>
            <a:ext cx="4953000" cy="2133300"/>
          </a:xfrm>
          <a:prstGeom prst="roundRect">
            <a:avLst>
              <a:gd fmla="val 53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1068758" y="2801342"/>
            <a:ext cx="44409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72"/>
              <a:buFont typeface="Consolas"/>
              <a:buNone/>
            </a:pPr>
            <a:r>
              <a:rPr b="0" i="0" lang="en-US" spc="0" sz="1573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python3 server/monitor_server.py --port 5005</a:t>
            </a:r>
            <a:endParaRPr b="0" i="0" spc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72"/>
              <a:buFont typeface="Consolas"/>
              <a:buNone/>
            </a:pPr>
            <a:r>
              <a:rPr b="0" i="0" lang="en-US" spc="0" sz="1573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python3 agent/health_agent.py --id=h1 \</a:t>
            </a:r>
            <a:endParaRPr b="0" i="0" spc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72"/>
              <a:buFont typeface="Consolas"/>
              <a:buNone/>
            </a:pPr>
            <a:r>
              <a:rPr b="0" i="0" lang="en-US" spc="0" sz="1573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--server 127.0.0.1 --port 5005 --interval 1.0 --mode real</a:t>
            </a:r>
            <a:endParaRPr b="0" i="0" spc="0" sz="15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6273643" y="1837035"/>
            <a:ext cx="5359200" cy="3352800"/>
          </a:xfrm>
          <a:prstGeom prst="roundRect">
            <a:avLst>
              <a:gd fmla="val 341" name="adj"/>
            </a:avLst>
          </a:prstGeom>
          <a:solidFill>
            <a:srgbClr val="FFFFFF"/>
          </a:solidFill>
          <a:ln cap="flat" cmpd="sng" w="25375">
            <a:solidFill>
              <a:srgbClr val="876C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6476838" y="2076002"/>
            <a:ext cx="49530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 Tight"/>
              <a:buNone/>
            </a:pPr>
            <a:r>
              <a:rPr b="0" i="0" lang="en-US" spc="-9" sz="18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Run the tests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476838" y="2588022"/>
            <a:ext cx="4953000" cy="2133300"/>
          </a:xfrm>
          <a:prstGeom prst="roundRect">
            <a:avLst>
              <a:gd fmla="val 53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732816" y="2801342"/>
            <a:ext cx="44409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45"/>
              <a:buFont typeface="Consolas"/>
              <a:buNone/>
            </a:pPr>
            <a:r>
              <a:rPr b="0" i="0" lang="en-US" spc="0" sz="1445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pytest tests/ -v --cov=common --cov=server \</a:t>
            </a:r>
            <a:endParaRPr b="0" i="0" spc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45"/>
              <a:buFont typeface="Consolas"/>
              <a:buNone/>
            </a:pPr>
            <a:r>
              <a:rPr b="0" i="0" lang="en-US" spc="0" sz="1445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--cov=agent</a:t>
            </a:r>
            <a:endParaRPr b="0" i="0" spc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45"/>
              <a:buFont typeface="Consolas"/>
              <a:buNone/>
            </a:pPr>
            <a:r>
              <a:rPr b="0" i="0" lang="en-US" spc="0" sz="1445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60 passed · 87% coverage</a:t>
            </a:r>
            <a:endParaRPr b="0" i="0" spc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45"/>
              <a:buFont typeface="Consolas"/>
              <a:buNone/>
            </a:pPr>
            <a:r>
              <a:rPr b="0" i="0" lang="en-US" spc="0" sz="1445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python3 experiments/run_congestion_test.py --runs 3</a:t>
            </a:r>
            <a:endParaRPr b="0" i="0" spc="0" sz="14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609585" y="5494635"/>
            <a:ext cx="11023200" cy="1278000"/>
          </a:xfrm>
          <a:prstGeom prst="roundRect">
            <a:avLst>
              <a:gd fmla="val 894" name="adj"/>
            </a:avLst>
          </a:prstGeom>
          <a:solidFill>
            <a:srgbClr val="FFFFFF"/>
          </a:solidFill>
          <a:ln cap="flat" cmpd="sng" w="25375">
            <a:solidFill>
              <a:srgbClr val="876C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812780" y="5657402"/>
            <a:ext cx="106170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 Tight"/>
              <a:buNone/>
            </a:pPr>
            <a:r>
              <a:rPr b="0" i="0" lang="en-US" spc="-9" sz="18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What the results show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812780" y="6085381"/>
            <a:ext cx="106170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 Tight"/>
              <a:buNone/>
            </a:pPr>
            <a:r>
              <a:rPr b="1" i="0" lang="en-US" spc="0" sz="16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Critical-packet loss:</a:t>
            </a:r>
            <a:r>
              <a:rPr b="0" i="0" lang="en-US" spc="0" sz="16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56.67% with Priority OFF vs 0.00% with Priority ON. </a:t>
            </a:r>
            <a:r>
              <a:rPr b="1" i="0" lang="en-US" spc="0" sz="16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Scale:</a:t>
            </a:r>
            <a:r>
              <a:rPr b="0" i="0" lang="en-US" spc="0" sz="16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up to 80 nodes, 184.2 packets/s, with server CPU at or below 5.0%.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609585" y="6965224"/>
            <a:ext cx="11582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None/>
            </a:pPr>
            <a:r>
              <a:rPr b="0" i="0" lang="en-US" spc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RUN THE LOCAL SERVER AND AGENT, VERIFY THE 60-TEST SUITE, THEN COMPARE PRIORITY OFF AND ON IN THE DOCUMENTED CONGESTION EXPERIMENT.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